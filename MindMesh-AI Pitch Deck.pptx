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Mukta Light" panose="020B0604020202020204" charset="0"/>
      <p:regular r:id="rId11"/>
    </p:embeddedFont>
    <p:embeddedFont>
      <p:font typeface="Prompt Medium" panose="00000600000000000000" pitchFamily="2" charset="-34"/>
      <p:regular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BFEE"/>
    <a:srgbClr val="DAD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00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1811B-AF84-98F4-8BBF-1C2FE3C6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8E84B-3320-9685-B001-F7E4271E0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9F4CB-8249-A6E9-1AFE-0953A934F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192E3-CDC5-D8E7-7A24-B406B838E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0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hyperlink" Target="https://valor.globo.com/patrocinado/dino/noticia/2023/10/03/maioria-dos-escritorios-contabeis-esta-em-crescimento.ghtml" TargetMode="Externa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42768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350437" y="306955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MindMesh-IA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6350437" y="4125635"/>
            <a:ext cx="605623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Extração Inteligente de Dados Fiscais com IA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4838819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Automatizamos a extração e validação de dados fiscais com inteligência artificial. Nossa solução </a:t>
            </a:r>
            <a:r>
              <a:rPr lang="en-US" sz="1900" b="1" dirty="0">
                <a:solidFill>
                  <a:srgbClr val="B05EF1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transforma documentos em insights valiosos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para empresas e escritórios </a:t>
            </a:r>
            <a:r>
              <a:rPr lang="en-US" sz="190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contábeis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 </a:t>
            </a:r>
            <a:r>
              <a:rPr lang="pt-BR" sz="1900" dirty="0">
                <a:solidFill>
                  <a:srgbClr val="DAD8E9"/>
                </a:solidFill>
                <a:latin typeface="Mukta Light" pitchFamily="34" charset="0"/>
                <a:cs typeface="Mukta Light" pitchFamily="34" charset="-120"/>
              </a:rPr>
              <a:t>Menos tempo com burocracia, mais tempo com estratégia.</a:t>
            </a:r>
            <a:endParaRPr lang="en-US" sz="1900" dirty="0">
              <a:solidFill>
                <a:srgbClr val="DAD8E9"/>
              </a:solidFill>
              <a:latin typeface="Mukta Light" pitchFamily="34" charset="0"/>
              <a:cs typeface="Mukta Light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461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8555" y="2106216"/>
            <a:ext cx="5197554" cy="64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 Problema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818555" y="3223498"/>
            <a:ext cx="4097179" cy="771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6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200B</a:t>
            </a:r>
            <a:endParaRPr lang="en-US" sz="6050" dirty="0"/>
          </a:p>
        </p:txBody>
      </p:sp>
      <p:sp>
        <p:nvSpPr>
          <p:cNvPr id="5" name="Text 2"/>
          <p:cNvSpPr/>
          <p:nvPr/>
        </p:nvSpPr>
        <p:spPr>
          <a:xfrm>
            <a:off x="1502807" y="4287560"/>
            <a:ext cx="2728674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 de Compliance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8555" y="4752618"/>
            <a:ext cx="4097179" cy="74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Valor anual gasto por empresas brasileiras (IBPT, 2023)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66492" y="3223498"/>
            <a:ext cx="4097298" cy="771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6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60%</a:t>
            </a:r>
            <a:endParaRPr lang="en-US" sz="6050" dirty="0"/>
          </a:p>
        </p:txBody>
      </p:sp>
      <p:sp>
        <p:nvSpPr>
          <p:cNvPr id="8" name="Text 5"/>
          <p:cNvSpPr/>
          <p:nvPr/>
        </p:nvSpPr>
        <p:spPr>
          <a:xfrm>
            <a:off x="5266492" y="4287560"/>
            <a:ext cx="4097298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Tempo Gasto com Digitação Manual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266492" y="5077420"/>
            <a:ext cx="4097298" cy="1122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80% dos contadores gastam 60% do seu tempo em digitação manual (Fenacon, 2022)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714548" y="3223498"/>
            <a:ext cx="4097179" cy="771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6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 Mil</a:t>
            </a:r>
            <a:endParaRPr lang="en-US" sz="6050" dirty="0"/>
          </a:p>
        </p:txBody>
      </p:sp>
      <p:sp>
        <p:nvSpPr>
          <p:cNvPr id="11" name="Text 8"/>
          <p:cNvSpPr/>
          <p:nvPr/>
        </p:nvSpPr>
        <p:spPr>
          <a:xfrm>
            <a:off x="9765863" y="4287560"/>
            <a:ext cx="3994428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Valor médio de multa por nota.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714548" y="4752618"/>
            <a:ext cx="4097179" cy="74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30 % das empresas sofrem autuações por CFOP incorreto. (Receita Federal, 2024).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18555" y="6462832"/>
            <a:ext cx="12993291" cy="1122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Constantes mudanças nas leis tributárias brasileiras dificultam o trabalho dos contadores fazendo com que eles gastem mais tempo com verificação e atualização de dados. 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3674" y="647700"/>
            <a:ext cx="5229701" cy="653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Nossa Solução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74" y="1654254"/>
            <a:ext cx="1176695" cy="14119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53270" y="1889522"/>
            <a:ext cx="2614851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Extração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2353270" y="2357438"/>
            <a:ext cx="5967055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Processa XML, PDF e imagens com alta precisão 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74" y="3066217"/>
            <a:ext cx="1176695" cy="14119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53270" y="3301484"/>
            <a:ext cx="2614851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Validação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2353270" y="3769400"/>
            <a:ext cx="5967055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Verificação automática de conformidade fiscal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674" y="4478179"/>
            <a:ext cx="1176695" cy="14119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53270" y="4713446"/>
            <a:ext cx="2917984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Dashboards Gerenciais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2353270" y="5181362"/>
            <a:ext cx="5967055" cy="37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Relatórios com insights tributários estratégicos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674" y="5890141"/>
            <a:ext cx="1176695" cy="16916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353270" y="6125408"/>
            <a:ext cx="2614851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Integrações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2353270" y="6593324"/>
            <a:ext cx="5967055" cy="753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APIs prontas para conectar com sistemas contábeis, garantindo escalabilidade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893" y="673298"/>
            <a:ext cx="5441037" cy="680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 Mercado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56893" y="1842968"/>
            <a:ext cx="12916614" cy="39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 mercado contábil brasileiro representa uma oportunidade substancial para soluções inovadoras de automação fiscal.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56893" y="2509957"/>
            <a:ext cx="12916614" cy="39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93" y="3176945"/>
            <a:ext cx="4305538" cy="9792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1685" y="4523423"/>
            <a:ext cx="3264575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532 Mil Contadores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101685" y="5078254"/>
            <a:ext cx="3815953" cy="783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 registros ativos, segundo o CRCSP (5/2025).</a:t>
            </a:r>
            <a:endParaRPr lang="en-US" sz="1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431" y="3176945"/>
            <a:ext cx="4305538" cy="9792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07223" y="4523423"/>
            <a:ext cx="3726299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15% Crescimento Anual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5407223" y="5078254"/>
            <a:ext cx="3815953" cy="117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44% das empresas de contabilidade (O Mercado </a:t>
            </a:r>
            <a:r>
              <a:rPr lang="en-US" sz="190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Contábil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</a:t>
            </a:r>
            <a:r>
              <a:rPr lang="en-US" sz="1900" u="sng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Valor Econômico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).</a:t>
            </a:r>
            <a:endParaRPr lang="en-US" sz="1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7969" y="3176945"/>
            <a:ext cx="4305538" cy="9792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2762" y="4523423"/>
            <a:ext cx="3264575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62,8% </a:t>
            </a:r>
            <a:endParaRPr lang="en-US" sz="2550" dirty="0"/>
          </a:p>
        </p:txBody>
      </p:sp>
      <p:sp>
        <p:nvSpPr>
          <p:cNvPr id="13" name="Text 8"/>
          <p:cNvSpPr/>
          <p:nvPr/>
        </p:nvSpPr>
        <p:spPr>
          <a:xfrm>
            <a:off x="9712762" y="5078254"/>
            <a:ext cx="3815953" cy="156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dos entrevistados acreditam que a tecnologia terá um papel crucial para os contadores no futuro (O Mercado </a:t>
            </a:r>
            <a:r>
              <a:rPr lang="en-US" sz="190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Contábil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</a:t>
            </a:r>
            <a:r>
              <a:rPr lang="en-US" sz="1900" u="sng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Valor Econômico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)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56893" y="7164824"/>
            <a:ext cx="12916614" cy="39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93746"/>
            <a:ext cx="55500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Modelo de Negócios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140" y="2573298"/>
            <a:ext cx="2128838" cy="137969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966" y="3215997"/>
            <a:ext cx="347186" cy="4339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00794" y="28201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Serviços Premium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400794" y="3311128"/>
            <a:ext cx="326147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APIs e Integrações customizadas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5215652" y="3968591"/>
            <a:ext cx="8489037" cy="15240"/>
          </a:xfrm>
          <a:prstGeom prst="roundRect">
            <a:avLst>
              <a:gd name="adj" fmla="val 680400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721" y="4014668"/>
            <a:ext cx="4257675" cy="137969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966" y="4487466"/>
            <a:ext cx="347186" cy="43398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65213" y="42614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Planos Empresariais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6465213" y="4752499"/>
            <a:ext cx="44856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Para equipes de médias e grandes empresas 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6280071" y="5409962"/>
            <a:ext cx="7424618" cy="15240"/>
          </a:xfrm>
          <a:prstGeom prst="roundRect">
            <a:avLst>
              <a:gd name="adj" fmla="val 680400"/>
            </a:avLst>
          </a:prstGeom>
          <a:solidFill>
            <a:srgbClr val="6D4562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83" y="5456039"/>
            <a:ext cx="6386632" cy="137969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5847" y="5928836"/>
            <a:ext cx="347186" cy="43398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9632" y="570285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SaaS Básico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7529632" y="6193869"/>
            <a:ext cx="538638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Assinatura mensal por volume e tipos de documentos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829157"/>
            <a:ext cx="629400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Diferencial Competitivo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132058"/>
            <a:ext cx="287738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Soluções Tradicionais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72177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OCR básico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20314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Sem validação fiscal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68451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Atualizações manuais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516588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Adaptado para o mercado brasileiro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4037" y="578310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313205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MindMesh-IA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623929" y="3721775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Alta Precisão em documentos de baixa qualidade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420314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Validação fiscal automática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23929" y="468451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Atualizações para novas legislações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23929" y="516588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Criado para as complexidades do mercado brasileiro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23929" y="5783104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1866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Nossa Equipe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2395418" y="299418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Desenvolvimento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485198"/>
            <a:ext cx="42745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Pedro Andrade 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028361"/>
            <a:ext cx="42745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Sérgio Eduardo Palmiere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571524"/>
            <a:ext cx="42745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Raul da Silva Gomes 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903" y="2898219"/>
            <a:ext cx="3612594" cy="361259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77151" y="3166467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934" y="3301484"/>
            <a:ext cx="277654" cy="3471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89745" y="310967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Marketing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9389745" y="3593181"/>
            <a:ext cx="42745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Fernanda Ave</a:t>
            </a:r>
            <a:endParaRPr lang="en-US" sz="1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903" y="2898219"/>
            <a:ext cx="3612594" cy="361259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35910" y="3166467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5693" y="3301484"/>
            <a:ext cx="277654" cy="34718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91782" y="552878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Operações </a:t>
            </a:r>
            <a:endParaRPr lang="en-US" sz="2150" dirty="0"/>
          </a:p>
        </p:txBody>
      </p:sp>
      <p:sp>
        <p:nvSpPr>
          <p:cNvPr id="16" name="Text 10"/>
          <p:cNvSpPr/>
          <p:nvPr/>
        </p:nvSpPr>
        <p:spPr>
          <a:xfrm>
            <a:off x="9491782" y="6019800"/>
            <a:ext cx="42745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Heubber Lima Januário</a:t>
            </a:r>
            <a:endParaRPr lang="en-US" sz="1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8903" y="2898219"/>
            <a:ext cx="3612594" cy="361259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235910" y="5625227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5693" y="5760244"/>
            <a:ext cx="277654" cy="34718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395418" y="552878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Negócios </a:t>
            </a:r>
            <a:endParaRPr lang="en-US" sz="2150" dirty="0"/>
          </a:p>
        </p:txBody>
      </p:sp>
      <p:sp>
        <p:nvSpPr>
          <p:cNvPr id="21" name="Text 13"/>
          <p:cNvSpPr/>
          <p:nvPr/>
        </p:nvSpPr>
        <p:spPr>
          <a:xfrm>
            <a:off x="864037" y="6019800"/>
            <a:ext cx="42745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Joel Alberto Fernandes</a:t>
            </a:r>
          </a:p>
          <a:p>
            <a:pPr algn="r">
              <a:lnSpc>
                <a:spcPts val="3100"/>
              </a:lnSpc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cs typeface="Mukta Light" pitchFamily="34" charset="-120"/>
              </a:rPr>
              <a:t>Ricardo Vidigal da Silva</a:t>
            </a: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8903" y="2898219"/>
            <a:ext cx="3612594" cy="3612594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5777151" y="5625227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6934" y="5760244"/>
            <a:ext cx="277654" cy="3471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3B550-AA8F-8021-E9B4-AA00DBE1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630227-A843-3CB8-8383-805C508B4FD8}"/>
              </a:ext>
            </a:extLst>
          </p:cNvPr>
          <p:cNvSpPr/>
          <p:nvPr/>
        </p:nvSpPr>
        <p:spPr>
          <a:xfrm>
            <a:off x="0" y="3335311"/>
            <a:ext cx="14630399" cy="509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pt-BR" sz="5400" dirty="0">
                <a:solidFill>
                  <a:srgbClr val="C6BFEE"/>
                </a:solidFill>
                <a:latin typeface="Prompt Medium" panose="00000600000000000000" pitchFamily="2" charset="-34"/>
                <a:cs typeface="Prompt Medium" panose="00000600000000000000" pitchFamily="2" charset="-34"/>
              </a:rPr>
              <a:t>Transforme a complexidade fiscal em </a:t>
            </a:r>
          </a:p>
          <a:p>
            <a:pPr algn="ctr">
              <a:lnSpc>
                <a:spcPts val="5400"/>
              </a:lnSpc>
            </a:pPr>
            <a:r>
              <a:rPr lang="pt-BR" sz="5400" dirty="0">
                <a:solidFill>
                  <a:srgbClr val="C6BFEE"/>
                </a:solidFill>
                <a:latin typeface="Prompt Medium" panose="00000600000000000000" pitchFamily="2" charset="-34"/>
                <a:cs typeface="Prompt Medium" panose="00000600000000000000" pitchFamily="2" charset="-34"/>
              </a:rPr>
              <a:t>clareza, agilidade e precisão </a:t>
            </a:r>
          </a:p>
          <a:p>
            <a:pPr algn="ctr">
              <a:lnSpc>
                <a:spcPts val="5400"/>
              </a:lnSpc>
            </a:pPr>
            <a:r>
              <a:rPr lang="pt-BR" sz="5400" dirty="0">
                <a:solidFill>
                  <a:srgbClr val="C6BFEE"/>
                </a:solidFill>
                <a:latin typeface="Prompt Medium" panose="00000600000000000000" pitchFamily="2" charset="-34"/>
                <a:cs typeface="Prompt Medium" panose="00000600000000000000" pitchFamily="2" charset="-34"/>
              </a:rPr>
              <a:t>com </a:t>
            </a:r>
            <a:r>
              <a:rPr lang="pt-BR" sz="5400" dirty="0">
                <a:solidFill>
                  <a:srgbClr val="7030A0"/>
                </a:solidFill>
                <a:latin typeface="Prompt Medium" panose="00000600000000000000" pitchFamily="2" charset="-34"/>
                <a:cs typeface="Prompt Medium" panose="00000600000000000000" pitchFamily="2" charset="-34"/>
              </a:rPr>
              <a:t>MindMesh.AI</a:t>
            </a:r>
          </a:p>
        </p:txBody>
      </p:sp>
    </p:spTree>
    <p:extLst>
      <p:ext uri="{BB962C8B-B14F-4D97-AF65-F5344CB8AC3E}">
        <p14:creationId xmlns:p14="http://schemas.microsoft.com/office/powerpoint/2010/main" val="42964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359</Words>
  <Application>Microsoft Office PowerPoint</Application>
  <PresentationFormat>Custom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Prompt Medium</vt:lpstr>
      <vt:lpstr>Mukta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Fernanda Ave</cp:lastModifiedBy>
  <cp:revision>3</cp:revision>
  <dcterms:created xsi:type="dcterms:W3CDTF">2025-06-09T20:15:09Z</dcterms:created>
  <dcterms:modified xsi:type="dcterms:W3CDTF">2025-06-09T20:47:37Z</dcterms:modified>
</cp:coreProperties>
</file>